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79" r:id="rId8"/>
    <p:sldId id="264"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smaKhwaja/Dharohar-AI"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dharoharai.vercel.app/"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41385302"/>
              </p:ext>
            </p:extLst>
          </p:nvPr>
        </p:nvGraphicFramePr>
        <p:xfrm>
          <a:off x="1299257" y="2610147"/>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dirty="0"/>
                        <a:t>Asma Khwaja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khwajaasmabibi@gmail.com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9726544496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49214" y="3747444"/>
            <a:ext cx="855406" cy="877156"/>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Tourism &amp; Heritage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Title – </a:t>
            </a:r>
            <a:r>
              <a:rPr lang="en-US" sz="2800" b="1" dirty="0">
                <a:highlight>
                  <a:srgbClr val="FFFF00"/>
                </a:highlight>
              </a:rPr>
              <a:t>Dharohar-AI</a:t>
            </a:r>
            <a:endParaRPr lang="en-IN" sz="28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109321"/>
            <a:ext cx="10607040" cy="5940088"/>
          </a:xfrm>
          <a:prstGeom prst="rect">
            <a:avLst/>
          </a:prstGeom>
          <a:noFill/>
        </p:spPr>
        <p:txBody>
          <a:bodyPr wrap="square" rtlCol="0">
            <a:spAutoFit/>
          </a:bodyPr>
          <a:lstStyle/>
          <a:p>
            <a:pPr fontAlgn="base"/>
            <a:r>
              <a:rPr lang="en-US" sz="2000" b="1" dirty="0"/>
              <a:t>Problem Statement : </a:t>
            </a:r>
            <a:r>
              <a:rPr lang="en-US" sz="2000" dirty="0"/>
              <a:t>Smart Heritage Conservation Platform for Ahmedabad's Walled City &amp; Modhera </a:t>
            </a:r>
          </a:p>
          <a:p>
            <a:pPr fontAlgn="base">
              <a:lnSpc>
                <a:spcPct val="150000"/>
              </a:lnSpc>
            </a:pPr>
            <a:r>
              <a:rPr lang="en-US" sz="2000" b="1" dirty="0"/>
              <a:t>The Challenge</a:t>
            </a:r>
            <a:r>
              <a:rPr lang="en-US" sz="2000" dirty="0"/>
              <a:t> </a:t>
            </a:r>
          </a:p>
          <a:p>
            <a:pPr fontAlgn="base"/>
            <a:r>
              <a:rPr lang="en-US" sz="2000" dirty="0"/>
              <a:t>Gujarat's UNESCO heritage sites, including Ahmedabad's Walled City and Modhera Sun Temple, face conservation risks from urban encroachment, weathering, and unmanaged tourist footfall, alongside underutilized digital storytelling for visitors. </a:t>
            </a:r>
          </a:p>
          <a:p>
            <a:pPr fontAlgn="base">
              <a:lnSpc>
                <a:spcPct val="150000"/>
              </a:lnSpc>
            </a:pPr>
            <a:r>
              <a:rPr lang="en-US" sz="2000" b="1" dirty="0"/>
              <a:t>The Objective</a:t>
            </a:r>
            <a:r>
              <a:rPr lang="en-US" sz="2000" dirty="0"/>
              <a:t> </a:t>
            </a:r>
          </a:p>
          <a:p>
            <a:pPr algn="just" fontAlgn="base"/>
            <a:r>
              <a:rPr lang="en-US" sz="2000" dirty="0"/>
              <a:t>Build Agentic AI solutions that monitor heritage site structural health, manage visitor flow, and deliver immersive, personalized cultural storytelling experiences. </a:t>
            </a:r>
          </a:p>
          <a:p>
            <a:pPr fontAlgn="base">
              <a:lnSpc>
                <a:spcPct val="150000"/>
              </a:lnSpc>
            </a:pPr>
            <a:r>
              <a:rPr lang="en-US" sz="2000" b="1" dirty="0"/>
              <a:t>Suggested AI Agents</a:t>
            </a:r>
          </a:p>
          <a:p>
            <a:pPr marL="342900" indent="-342900" fontAlgn="base">
              <a:buFont typeface="Arial" panose="020B0604020202020204" pitchFamily="34" charset="0"/>
              <a:buChar char="•"/>
            </a:pPr>
            <a:r>
              <a:rPr lang="en-US" sz="2000" dirty="0"/>
              <a:t>Structural Health Monitoring Agent</a:t>
            </a:r>
          </a:p>
          <a:p>
            <a:pPr marL="342900" indent="-342900" fontAlgn="base">
              <a:buFont typeface="Arial" panose="020B0604020202020204" pitchFamily="34" charset="0"/>
              <a:buChar char="•"/>
            </a:pPr>
            <a:r>
              <a:rPr lang="en-US" sz="2000" dirty="0"/>
              <a:t>Visitor Flow Management Agent </a:t>
            </a:r>
          </a:p>
          <a:p>
            <a:pPr marL="342900" indent="-342900" fontAlgn="base">
              <a:buFont typeface="Arial" panose="020B0604020202020204" pitchFamily="34" charset="0"/>
              <a:buChar char="•"/>
            </a:pPr>
            <a:r>
              <a:rPr lang="en-US" sz="2000" dirty="0"/>
              <a:t>Personalized Heritage Storytelling Agent </a:t>
            </a:r>
          </a:p>
          <a:p>
            <a:pPr marL="342900" indent="-342900" fontAlgn="base">
              <a:buFont typeface="Arial" panose="020B0604020202020204" pitchFamily="34" charset="0"/>
              <a:buChar char="•"/>
            </a:pPr>
            <a:r>
              <a:rPr lang="en-US" sz="2000" dirty="0"/>
              <a:t>Encroachment Detection Agent </a:t>
            </a:r>
          </a:p>
          <a:p>
            <a:pPr marL="342900" indent="-342900" fontAlgn="base">
              <a:buFont typeface="Arial" panose="020B0604020202020204" pitchFamily="34" charset="0"/>
              <a:buChar char="•"/>
            </a:pPr>
            <a:r>
              <a:rPr lang="en-US" sz="2000" dirty="0"/>
              <a:t>Conservation Reporting Dashboard Agent </a:t>
            </a:r>
          </a:p>
          <a:p>
            <a:pPr fontAlgn="base">
              <a:lnSpc>
                <a:spcPct val="150000"/>
              </a:lnSpc>
            </a:pPr>
            <a:r>
              <a:rPr lang="en-US" sz="2000" b="1" dirty="0"/>
              <a:t>Technology to be used </a:t>
            </a:r>
            <a:r>
              <a:rPr lang="en-US" sz="2000" dirty="0"/>
              <a:t>– IBM Bob + IBM Granite LLM + IBM cloud </a:t>
            </a:r>
          </a:p>
          <a:p>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497610"/>
            <a:ext cx="7214616" cy="523220"/>
          </a:xfrm>
          <a:prstGeom prst="rect">
            <a:avLst/>
          </a:prstGeom>
          <a:noFill/>
        </p:spPr>
        <p:txBody>
          <a:bodyPr wrap="square" rtlCol="0">
            <a:spAutoFit/>
          </a:bodyPr>
          <a:lstStyle/>
          <a:p>
            <a:r>
              <a:rPr lang="en-US" sz="2800" b="1" dirty="0"/>
              <a:t>Problem</a:t>
            </a:r>
            <a:r>
              <a:rPr lang="en-US" sz="2400" b="1" dirty="0"/>
              <a:t> </a:t>
            </a:r>
            <a:r>
              <a:rPr lang="en-US" sz="2800" b="1" dirty="0"/>
              <a:t>Statement </a:t>
            </a:r>
            <a:r>
              <a:rPr lang="en-US" sz="2400" b="1" dirty="0"/>
              <a:t>-</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832366"/>
          </a:xfrm>
          <a:prstGeom prst="rect">
            <a:avLst/>
          </a:prstGeom>
          <a:noFill/>
        </p:spPr>
        <p:txBody>
          <a:bodyPr wrap="square" rtlCol="0">
            <a:spAutoFit/>
          </a:bodyPr>
          <a:lstStyle/>
          <a:p>
            <a:r>
              <a:rPr lang="en-IN" sz="2000" b="1" dirty="0"/>
              <a:t>Proposed Solution: DHAROHAR AI — Heritage Guardian</a:t>
            </a:r>
            <a:endParaRPr lang="en-IN" sz="2000" dirty="0"/>
          </a:p>
          <a:p>
            <a:pPr marL="342900" indent="-342900">
              <a:buFont typeface="Arial" panose="020B0604020202020204" pitchFamily="34" charset="0"/>
              <a:buChar char="•"/>
            </a:pPr>
            <a:r>
              <a:rPr lang="en-IN" sz="2000" dirty="0"/>
              <a:t>A multi-agent AI platform built on IBM Granite LLM via watsonx.ai that monitors structural health, detects encroachment, manages visitor flow, and delivers personalized storytelling for Gujarat's heritage sites — Ahmedabad's Walled City and </a:t>
            </a:r>
            <a:r>
              <a:rPr lang="en-IN" sz="2000" dirty="0" err="1"/>
              <a:t>Modhera</a:t>
            </a:r>
            <a:r>
              <a:rPr lang="en-IN" sz="2000" dirty="0"/>
              <a:t> Sun Temple.</a:t>
            </a:r>
          </a:p>
          <a:p>
            <a:pPr marL="342900" indent="-342900">
              <a:buFont typeface="Arial" panose="020B0604020202020204" pitchFamily="34" charset="0"/>
              <a:buChar char="•"/>
            </a:pPr>
            <a:r>
              <a:rPr lang="en-IN" sz="2000" dirty="0"/>
              <a:t>Every output is grounded in a curated heritage knowledge layer and real regulatory frameworks (AMASR Act 1958, Gujarat Heritage Regulation Act 2017), keeping Granite's reasoning fact-checked.</a:t>
            </a:r>
          </a:p>
          <a:p>
            <a:pPr algn="just"/>
            <a:endParaRPr lang="en-IN" sz="2000" dirty="0"/>
          </a:p>
          <a:p>
            <a:pPr>
              <a:spcAft>
                <a:spcPts val="600"/>
              </a:spcAft>
            </a:pPr>
            <a:r>
              <a:rPr lang="en-IN" sz="2000" b="1" dirty="0"/>
              <a:t>Five agents:</a:t>
            </a:r>
            <a:endParaRPr lang="en-IN" sz="2000" dirty="0"/>
          </a:p>
          <a:p>
            <a:pPr marL="457200" lvl="0" indent="-457200">
              <a:buFont typeface="+mj-lt"/>
              <a:buAutoNum type="arabicPeriod"/>
            </a:pPr>
            <a:r>
              <a:rPr lang="en-IN" sz="2000" b="1" dirty="0"/>
              <a:t>Structural Health Monitoring</a:t>
            </a:r>
            <a:r>
              <a:rPr lang="en-IN" sz="2000" dirty="0"/>
              <a:t> — condition &amp; risk analysis with explainable scores</a:t>
            </a:r>
          </a:p>
          <a:p>
            <a:pPr marL="457200" lvl="0" indent="-457200">
              <a:buFont typeface="+mj-lt"/>
              <a:buAutoNum type="arabicPeriod"/>
            </a:pPr>
            <a:r>
              <a:rPr lang="en-IN" sz="2000" b="1" dirty="0"/>
              <a:t>Encroachment Detection</a:t>
            </a:r>
            <a:r>
              <a:rPr lang="en-IN" sz="2000" dirty="0"/>
              <a:t> — buffer-zone violation detection + enforcement action plans</a:t>
            </a:r>
          </a:p>
          <a:p>
            <a:pPr marL="457200" lvl="0" indent="-457200">
              <a:buFont typeface="+mj-lt"/>
              <a:buAutoNum type="arabicPeriod"/>
            </a:pPr>
            <a:r>
              <a:rPr lang="en-IN" sz="2000" b="1" dirty="0"/>
              <a:t>Visitor Flow Management</a:t>
            </a:r>
            <a:r>
              <a:rPr lang="en-IN" sz="2000" dirty="0"/>
              <a:t> — per-zone capacity tracking + routing recommendations</a:t>
            </a:r>
          </a:p>
          <a:p>
            <a:pPr marL="457200" lvl="0" indent="-457200">
              <a:buFont typeface="+mj-lt"/>
              <a:buAutoNum type="arabicPeriod"/>
            </a:pPr>
            <a:r>
              <a:rPr lang="en-IN" sz="2000" b="1" dirty="0"/>
              <a:t>Heritage Storytelling</a:t>
            </a:r>
            <a:r>
              <a:rPr lang="en-IN" sz="2000" dirty="0"/>
              <a:t> — personalized, fact-grounded visitor narratives</a:t>
            </a:r>
          </a:p>
          <a:p>
            <a:pPr marL="457200" lvl="0" indent="-457200">
              <a:buFont typeface="+mj-lt"/>
              <a:buAutoNum type="arabicPeriod"/>
            </a:pPr>
            <a:r>
              <a:rPr lang="en-IN" sz="2000" b="1" dirty="0"/>
              <a:t>Conservation Reporting</a:t>
            </a:r>
            <a:r>
              <a:rPr lang="en-IN" sz="2000" dirty="0"/>
              <a:t> — auto-generated network-wide action reports</a:t>
            </a:r>
          </a:p>
          <a:p>
            <a:r>
              <a:rPr lang="en-IN" sz="2000" dirty="0"/>
              <a:t>A custom orchestration layer sequences these agents with transparent reasoning at each step, powered securely by IBM Granite via a backend proxy — turning heritage conservation from reactive to proactive, explainable, and AI-assisted.</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a:t>
            </a:r>
            <a:r>
              <a:rPr lang="en-US" sz="2400" b="1" dirty="0"/>
              <a:t> </a:t>
            </a:r>
            <a:r>
              <a:rPr lang="en-US" sz="2800" b="1" dirty="0"/>
              <a:t>Solution</a:t>
            </a:r>
            <a:r>
              <a:rPr lang="en-US" sz="2400" b="1" dirty="0"/>
              <a:t>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a:t>
            </a:r>
            <a:r>
              <a:rPr lang="en-US" sz="2800" b="1" dirty="0"/>
              <a:t>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11519"/>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IN" sz="1800" b="1" dirty="0"/>
              <a:t>React + TypeScript</a:t>
            </a:r>
            <a:r>
              <a:rPr lang="en-IN" sz="1800" dirty="0"/>
              <a:t> – For building the interactive Heritage Guardian dashboard and agent interfaces</a:t>
            </a:r>
          </a:p>
          <a:p>
            <a:pPr marL="285750" indent="-285750">
              <a:lnSpc>
                <a:spcPct val="150000"/>
              </a:lnSpc>
              <a:buFont typeface="Arial" panose="020B0604020202020204" pitchFamily="34" charset="0"/>
              <a:buChar char="•"/>
            </a:pPr>
            <a:r>
              <a:rPr lang="en-IN" sz="1800" b="1" dirty="0"/>
              <a:t>Custom Multi-Agent Orchestrator</a:t>
            </a:r>
            <a:r>
              <a:rPr lang="en-IN" sz="1800" dirty="0"/>
              <a:t> – For designing and sequencing the five-agent conservation workflow (Structural, Encroachment, Visitor Flow, Storytelling, Reporting)</a:t>
            </a:r>
          </a:p>
          <a:p>
            <a:pPr marL="285750" indent="-285750" algn="just">
              <a:lnSpc>
                <a:spcPct val="150000"/>
              </a:lnSpc>
              <a:buFont typeface="Arial" panose="020B0604020202020204" pitchFamily="34" charset="0"/>
              <a:buChar char="•"/>
            </a:pPr>
            <a:r>
              <a:rPr lang="en-IN" sz="1800" b="1" dirty="0"/>
              <a:t>IBM Granite Model</a:t>
            </a:r>
            <a:r>
              <a:rPr lang="en-IN" sz="1800" dirty="0"/>
              <a:t> – e.g. ibm-granite-13b-instruct-v2 – For risk reasoning, regulatory analysis, and personalized storytelling</a:t>
            </a:r>
          </a:p>
          <a:p>
            <a:pPr marL="285750" indent="-285750">
              <a:lnSpc>
                <a:spcPct val="150000"/>
              </a:lnSpc>
              <a:buFont typeface="Arial" panose="020B0604020202020204" pitchFamily="34" charset="0"/>
              <a:buChar char="•"/>
            </a:pPr>
            <a:r>
              <a:rPr lang="en-IN" sz="1800" b="1" dirty="0"/>
              <a:t>IBM watsonx.ai</a:t>
            </a:r>
            <a:r>
              <a:rPr lang="en-IN" sz="1800" dirty="0"/>
              <a:t> – For secure Granite model access, inference, and governed deployment</a:t>
            </a:r>
          </a:p>
          <a:p>
            <a:pPr marL="285750" indent="-285750">
              <a:lnSpc>
                <a:spcPct val="150000"/>
              </a:lnSpc>
              <a:buFont typeface="Arial" panose="020B0604020202020204" pitchFamily="34" charset="0"/>
              <a:buChar char="•"/>
            </a:pPr>
            <a:r>
              <a:rPr lang="en-IN" sz="1800" b="1" dirty="0"/>
              <a:t>Curated Heritage Knowledge Layer</a:t>
            </a:r>
            <a:r>
              <a:rPr lang="en-IN" sz="1800" dirty="0"/>
              <a:t> – Verified site history, architecture, and legal frameworks (AMASR Act 1958, Gujarat Heritage Regulation Act 2017) grounding every AI output in fact</a:t>
            </a:r>
          </a:p>
          <a:p>
            <a:pPr marL="285750" indent="-285750">
              <a:lnSpc>
                <a:spcPct val="150000"/>
              </a:lnSpc>
              <a:buFont typeface="Arial" panose="020B0604020202020204" pitchFamily="34" charset="0"/>
              <a:buChar char="•"/>
            </a:pPr>
            <a:r>
              <a:rPr lang="en-IN" sz="1800" b="1" dirty="0"/>
              <a:t>IBM Cloud</a:t>
            </a:r>
            <a:r>
              <a:rPr lang="en-IN" sz="1800" dirty="0"/>
              <a:t> – Target infrastructure for scalable, secure backend deployment (Code Engine) of the Granite proxy service</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474822" y="377746"/>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t>Orchestration Components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1063523"/>
            <a:ext cx="10346174" cy="5113644"/>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sz="2000" b="1" dirty="0"/>
              <a:t>Incident/Query Input</a:t>
            </a:r>
            <a:r>
              <a:rPr lang="en-IN" sz="2000" dirty="0"/>
              <a:t> – Interface where users submit site incidents, conditions, or storytelling requests</a:t>
            </a:r>
          </a:p>
          <a:p>
            <a:pPr marL="342900" lvl="0" indent="-342900">
              <a:lnSpc>
                <a:spcPct val="150000"/>
              </a:lnSpc>
              <a:buFont typeface="Arial" panose="020B0604020202020204" pitchFamily="34" charset="0"/>
              <a:buChar char="•"/>
            </a:pPr>
            <a:r>
              <a:rPr lang="en-IN" sz="2000" b="1" dirty="0"/>
              <a:t>Agent Orchestrator</a:t>
            </a:r>
            <a:r>
              <a:rPr lang="en-IN" sz="2000" dirty="0"/>
              <a:t> – Sequences the 5 specialized agents (Structural, Encroachment, Visitor Flow, Storytelling, Reporting), each with defined role and reasoning step</a:t>
            </a:r>
          </a:p>
          <a:p>
            <a:pPr marL="342900" lvl="0" indent="-342900">
              <a:lnSpc>
                <a:spcPct val="150000"/>
              </a:lnSpc>
              <a:buFont typeface="Arial" panose="020B0604020202020204" pitchFamily="34" charset="0"/>
              <a:buChar char="•"/>
            </a:pPr>
            <a:r>
              <a:rPr lang="en-IN" sz="2000" b="1" dirty="0"/>
              <a:t>IBM Granite Model</a:t>
            </a:r>
            <a:r>
              <a:rPr lang="en-IN" sz="2000" dirty="0"/>
              <a:t> – granite-13b-instruct-v2 → risk reasoning, regulatory analysis, personalized storytelling</a:t>
            </a:r>
          </a:p>
          <a:p>
            <a:pPr marL="342900" lvl="0" indent="-342900" algn="just">
              <a:lnSpc>
                <a:spcPct val="150000"/>
              </a:lnSpc>
              <a:buFont typeface="Arial" panose="020B0604020202020204" pitchFamily="34" charset="0"/>
              <a:buChar char="•"/>
            </a:pPr>
            <a:r>
              <a:rPr lang="en-IN" sz="2000" b="1" dirty="0"/>
              <a:t>Heritage Knowledge Layer</a:t>
            </a:r>
            <a:r>
              <a:rPr lang="en-IN" sz="2000" dirty="0"/>
              <a:t> – Curated site history, architecture, and legal-framework data (AMASR Act 1958, Gujarat Heritage Regulation Act 2017) that grounds every agent's output</a:t>
            </a:r>
          </a:p>
          <a:p>
            <a:pPr marL="342900" lvl="0" indent="-342900">
              <a:lnSpc>
                <a:spcPct val="150000"/>
              </a:lnSpc>
              <a:buFont typeface="Arial" panose="020B0604020202020204" pitchFamily="34" charset="0"/>
              <a:buChar char="•"/>
            </a:pPr>
            <a:r>
              <a:rPr lang="en-IN" sz="2000" b="1" dirty="0"/>
              <a:t>Response Output</a:t>
            </a:r>
            <a:r>
              <a:rPr lang="en-IN" sz="2000" dirty="0"/>
              <a:t> – Explainable risk scores, action plans, and generated reports surfaced with visible agent-by-agent reasoning</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olidFill>
                  <a:srgbClr val="051D3A"/>
                </a:solidFill>
                <a:latin typeface="+mn-lt"/>
                <a:cs typeface="Times New Roman"/>
                <a:sym typeface="Times New Roman"/>
              </a:rPr>
              <a:t>W</a:t>
            </a:r>
            <a:r>
              <a:rPr lang="en-US" sz="2400" b="1" dirty="0">
                <a:sym typeface="Times New Roman"/>
              </a:rPr>
              <a:t>orkflow -</a:t>
            </a:r>
            <a:endParaRPr sz="2400" b="1" dirty="0">
              <a:sym typeface="Times New Roman"/>
            </a:endParaRPr>
          </a:p>
        </p:txBody>
      </p:sp>
      <p:pic>
        <p:nvPicPr>
          <p:cNvPr id="4" name="Picture 3">
            <a:extLst>
              <a:ext uri="{FF2B5EF4-FFF2-40B4-BE49-F238E27FC236}">
                <a16:creationId xmlns:a16="http://schemas.microsoft.com/office/drawing/2014/main" id="{C597681A-DF93-B190-DD21-CBAEDA4E3CBF}"/>
              </a:ext>
            </a:extLst>
          </p:cNvPr>
          <p:cNvPicPr>
            <a:picLocks noChangeAspect="1"/>
          </p:cNvPicPr>
          <p:nvPr/>
        </p:nvPicPr>
        <p:blipFill>
          <a:blip r:embed="rId3"/>
          <a:srcRect/>
          <a:stretch/>
        </p:blipFill>
        <p:spPr>
          <a:xfrm>
            <a:off x="2425700" y="676275"/>
            <a:ext cx="73406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632722" y="1091381"/>
            <a:ext cx="3232454" cy="5139901"/>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a:t>
            </a:r>
            <a:r>
              <a:rPr lang="en-US" sz="2800" b="1" dirty="0"/>
              <a:t>in</a:t>
            </a:r>
            <a:r>
              <a:rPr lang="en-US" sz="3200" b="1" dirty="0"/>
              <a:t>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52967" y="1011051"/>
            <a:ext cx="7774956" cy="5632311"/>
          </a:xfrm>
          <a:prstGeom prst="rect">
            <a:avLst/>
          </a:prstGeom>
          <a:noFill/>
        </p:spPr>
        <p:txBody>
          <a:bodyPr wrap="square" rtlCol="0">
            <a:spAutoFit/>
          </a:bodyPr>
          <a:lstStyle/>
          <a:p>
            <a:pPr algn="just"/>
            <a:r>
              <a:rPr lang="en-IN" sz="2000" b="1" dirty="0"/>
              <a:t>Role of Agentic AI in DHAROHAR AI</a:t>
            </a:r>
            <a:endParaRPr lang="en-IN" sz="2000" dirty="0"/>
          </a:p>
          <a:p>
            <a:pPr marL="342900" indent="-342900" algn="just">
              <a:buFont typeface="Arial" panose="020B0604020202020204" pitchFamily="34" charset="0"/>
              <a:buChar char="•"/>
            </a:pPr>
            <a:r>
              <a:rPr lang="en-IN" sz="2000" dirty="0"/>
              <a:t>Agentic AI lets DHAROHAR AI act as an intelligent conservation system, not a simple assessment form. Powered by IBM watsonx.ai and Granite models, it coordinates specialized agents for structural risk, encroachment detection, visitor flow, storytelling, and reporting — each feeding into the next for transparent, evidence-based decisions.</a:t>
            </a:r>
          </a:p>
          <a:p>
            <a:pPr marL="342900" indent="-342900" algn="just">
              <a:buFont typeface="Arial" panose="020B0604020202020204" pitchFamily="34" charset="0"/>
              <a:buChar char="•"/>
            </a:pPr>
            <a:r>
              <a:rPr lang="en-IN" sz="2000" dirty="0"/>
              <a:t>The system understands site-specific context — heritage status, prior incidents, visitor pressure, and applicable legal frameworks — and adapts risk scores and action plans as new data comes in.</a:t>
            </a:r>
          </a:p>
          <a:p>
            <a:pPr marL="342900" indent="-342900" algn="just">
              <a:buFont typeface="Arial" panose="020B0604020202020204" pitchFamily="34" charset="0"/>
              <a:buChar char="•"/>
            </a:pPr>
            <a:r>
              <a:rPr lang="en-IN" sz="2000" dirty="0"/>
              <a:t>Overall, Agentic AI makes the platform proactive and explainable, acting like a digital conservation officer helping protect Gujarat's heritage before damage becomes irreversible.</a:t>
            </a:r>
          </a:p>
          <a:p>
            <a:pPr marL="342900" indent="-342900" algn="just">
              <a:buFont typeface="Arial" panose="020B0604020202020204" pitchFamily="34" charset="0"/>
              <a:buChar char="•"/>
            </a:pPr>
            <a:r>
              <a:rPr lang="en-IN" sz="2000" dirty="0"/>
              <a:t>That's about 95 words. Tell me the box's line/character limit if it still overflows and I'll cut further — the fastest next trim would be dropping the last sentence entirely, since the paragraph above it already carries the core point.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64286" y="455136"/>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64286" y="1059524"/>
            <a:ext cx="11699895" cy="5632311"/>
          </a:xfrm>
          <a:prstGeom prst="rect">
            <a:avLst/>
          </a:prstGeom>
          <a:noFill/>
        </p:spPr>
        <p:txBody>
          <a:bodyPr wrap="square" rtlCol="0">
            <a:spAutoFit/>
          </a:bodyPr>
          <a:lstStyle/>
          <a:p>
            <a:pPr algn="just"/>
            <a:r>
              <a:rPr lang="en-IN" sz="2000" dirty="0"/>
              <a:t>DHAROHAR AI stands out by combining multi-agent orchestration, verified knowledge grounding, and regulatory intelligence into a single heritage conservation system.</a:t>
            </a:r>
          </a:p>
          <a:p>
            <a:pPr marL="285750" lvl="0" indent="-285750" algn="just">
              <a:buFont typeface="Arial" panose="020B0604020202020204" pitchFamily="34" charset="0"/>
              <a:buChar char="•"/>
            </a:pPr>
            <a:r>
              <a:rPr lang="en-IN" sz="2000" b="1" dirty="0"/>
              <a:t>Multi-Agent Intelligence</a:t>
            </a:r>
            <a:r>
              <a:rPr lang="en-IN" sz="2000" dirty="0"/>
              <a:t> – Five specialized agents (structural health, encroachment, visitor flow, storytelling, reporting) work in sequence instead of a single generic model.</a:t>
            </a:r>
          </a:p>
          <a:p>
            <a:pPr marL="285750" lvl="0" indent="-285750" algn="just">
              <a:buFont typeface="Arial" panose="020B0604020202020204" pitchFamily="34" charset="0"/>
              <a:buChar char="•"/>
            </a:pPr>
            <a:r>
              <a:rPr lang="en-IN" sz="2000" b="1" dirty="0"/>
              <a:t>Verified Knowledge Grounding</a:t>
            </a:r>
            <a:r>
              <a:rPr lang="en-IN" sz="2000" dirty="0"/>
              <a:t> – Every output is anchored to curated site history, architecture, and conservation data, reducing hallucinated claims.</a:t>
            </a:r>
          </a:p>
          <a:p>
            <a:pPr marL="285750" lvl="0" indent="-285750" algn="just">
              <a:buFont typeface="Arial" panose="020B0604020202020204" pitchFamily="34" charset="0"/>
              <a:buChar char="•"/>
            </a:pPr>
            <a:r>
              <a:rPr lang="en-IN" sz="2000" b="1" dirty="0"/>
              <a:t>Regulatory Intelligence</a:t>
            </a:r>
            <a:r>
              <a:rPr lang="en-IN" sz="2000" dirty="0"/>
              <a:t> – Encroachment findings are mapped to real legal frameworks (AMASR Act 1958, Gujarat Heritage Regulation Act 2017) for actionable enforcement, not just a severity label.</a:t>
            </a:r>
          </a:p>
          <a:p>
            <a:pPr marL="285750" lvl="0" indent="-285750" algn="just">
              <a:buFont typeface="Arial" panose="020B0604020202020204" pitchFamily="34" charset="0"/>
              <a:buChar char="•"/>
            </a:pPr>
            <a:r>
              <a:rPr lang="en-IN" sz="2000" b="1" dirty="0"/>
              <a:t>Visual Evidence Integration</a:t>
            </a:r>
            <a:r>
              <a:rPr lang="en-IN" sz="2000" dirty="0"/>
              <a:t> – Drone feed simulation and historical (1985 vs. now) imagery comparison support visual site assessment.</a:t>
            </a:r>
          </a:p>
          <a:p>
            <a:pPr marL="285750" lvl="0" indent="-285750" algn="just">
              <a:buFont typeface="Arial" panose="020B0604020202020204" pitchFamily="34" charset="0"/>
              <a:buChar char="•"/>
            </a:pPr>
            <a:r>
              <a:rPr lang="en-IN" sz="2000" b="1" dirty="0"/>
              <a:t>Real-Time Risk Recalculation</a:t>
            </a:r>
            <a:r>
              <a:rPr lang="en-IN" sz="2000" dirty="0"/>
              <a:t> – A What-If simulator models how changing visitor pressure shifts heritage risk before it happens.</a:t>
            </a:r>
          </a:p>
          <a:p>
            <a:pPr marL="285750" lvl="0" indent="-285750" algn="just">
              <a:buFont typeface="Arial" panose="020B0604020202020204" pitchFamily="34" charset="0"/>
              <a:buChar char="•"/>
            </a:pPr>
            <a:r>
              <a:rPr lang="en-IN" sz="2000" b="1" dirty="0"/>
              <a:t>Explainable, Not a Black Box</a:t>
            </a:r>
            <a:r>
              <a:rPr lang="en-IN" sz="2000" dirty="0"/>
              <a:t> – Every assessment surfaces its agent-by-agent reasoning chain, not just a final score.</a:t>
            </a:r>
          </a:p>
          <a:p>
            <a:pPr marL="285750" lvl="0" indent="-285750" algn="just">
              <a:buFont typeface="Arial" panose="020B0604020202020204" pitchFamily="34" charset="0"/>
              <a:buChar char="•"/>
            </a:pPr>
            <a:r>
              <a:rPr lang="en-IN" sz="2000" b="1" dirty="0"/>
              <a:t>Secure, Enterprise-Ready Architecture</a:t>
            </a:r>
            <a:r>
              <a:rPr lang="en-IN" sz="2000" dirty="0"/>
              <a:t> – Built on IBM Granite via watsonx.ai through a credential-safe backend proxy, with a reliable demo mode for governance-conscious deployment.</a:t>
            </a:r>
          </a:p>
          <a:p>
            <a:pPr algn="just"/>
            <a:r>
              <a:rPr lang="en-IN" sz="2000" dirty="0"/>
              <a:t>This makes DHAROHAR AI a proactive digital heritage guardian, not just a condition-reporting tool.</a:t>
            </a:r>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Project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359325"/>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1800" b="1" dirty="0">
                <a:sym typeface="Times New Roman"/>
              </a:rPr>
              <a:t>Git Hub Link</a:t>
            </a:r>
          </a:p>
          <a:p>
            <a:pPr lvl="0">
              <a:lnSpc>
                <a:spcPct val="162162"/>
              </a:lnSpc>
              <a:buClr>
                <a:srgbClr val="2B3541"/>
              </a:buClr>
              <a:buSzPts val="1850"/>
            </a:pPr>
            <a:r>
              <a:rPr lang="en-IN" sz="1800" dirty="0">
                <a:latin typeface="Times New Roman"/>
                <a:ea typeface="Times New Roman"/>
                <a:cs typeface="Times New Roman"/>
                <a:sym typeface="Times New Roman"/>
                <a:hlinkClick r:id="rId3"/>
              </a:rPr>
              <a:t>https://github.com/AsmaKhwaja/Dharohar-AI</a:t>
            </a:r>
            <a:endParaRPr lang="en-IN" sz="1800" dirty="0">
              <a:latin typeface="Times New Roman"/>
              <a:ea typeface="Times New Roman"/>
              <a:cs typeface="Times New Roman"/>
              <a:sym typeface="Times New Roman"/>
            </a:endParaRPr>
          </a:p>
          <a:p>
            <a:pPr lvl="0">
              <a:lnSpc>
                <a:spcPct val="162162"/>
              </a:lnSpc>
              <a:buClr>
                <a:srgbClr val="2B3541"/>
              </a:buClr>
              <a:buSzPts val="1850"/>
            </a:pPr>
            <a:r>
              <a:rPr lang="en-IN" sz="1800" b="1" dirty="0" err="1">
                <a:latin typeface="Times New Roman"/>
                <a:ea typeface="Times New Roman"/>
                <a:cs typeface="Times New Roman"/>
                <a:sym typeface="Times New Roman"/>
              </a:rPr>
              <a:t>Vercel</a:t>
            </a:r>
            <a:r>
              <a:rPr lang="en-IN" sz="1800" b="1" dirty="0">
                <a:latin typeface="Times New Roman"/>
                <a:ea typeface="Times New Roman"/>
                <a:cs typeface="Times New Roman"/>
                <a:sym typeface="Times New Roman"/>
              </a:rPr>
              <a:t> Link</a:t>
            </a:r>
          </a:p>
          <a:p>
            <a:pPr lvl="0">
              <a:lnSpc>
                <a:spcPct val="162162"/>
              </a:lnSpc>
              <a:buClr>
                <a:srgbClr val="2B3541"/>
              </a:buClr>
              <a:buSzPts val="1850"/>
            </a:pPr>
            <a:r>
              <a:rPr lang="en-IN" sz="1800" dirty="0">
                <a:latin typeface="Times New Roman"/>
                <a:ea typeface="Times New Roman"/>
                <a:cs typeface="Times New Roman"/>
                <a:sym typeface="Times New Roman"/>
                <a:hlinkClick r:id="rId4"/>
              </a:rPr>
              <a:t>https://dharoharai.vercel.app/</a:t>
            </a:r>
            <a:endParaRPr lang="en-IN" sz="1800" dirty="0">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28270" y="1480179"/>
            <a:ext cx="9651239"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IN" sz="2000" b="1" dirty="0"/>
              <a:t>Integration with IoT Sensors &amp; Drone Surveys</a:t>
            </a:r>
            <a:br>
              <a:rPr lang="en-IN" sz="2000" dirty="0"/>
            </a:br>
            <a:r>
              <a:rPr lang="en-IN" sz="2000" dirty="0"/>
              <a:t>The platform can integrate with real structural sensors (crack meters, vibration monitors, humidity sensors) and scheduled drone imagery capture across heritage sites. This would replace simulated condition data with live structural telemetry, enabling the Structural Health and Encroachment agents to detect deterioration and unauthorized construction as it happens, not just from reported incidents.</a:t>
            </a:r>
          </a:p>
          <a:p>
            <a:pPr marL="457200" indent="-457200">
              <a:buFont typeface="+mj-lt"/>
              <a:buAutoNum type="arabicPeriod"/>
            </a:pPr>
            <a:endParaRPr lang="en-IN" sz="2000" dirty="0"/>
          </a:p>
          <a:p>
            <a:pPr marL="457200" indent="-457200">
              <a:buFont typeface="+mj-lt"/>
              <a:buAutoNum type="arabicPeriod"/>
            </a:pPr>
            <a:r>
              <a:rPr lang="en-IN" sz="2000" b="1" dirty="0"/>
              <a:t>Multilingual &amp; Voice-Enabled Storytelling</a:t>
            </a:r>
            <a:br>
              <a:rPr lang="en-IN" sz="2000" dirty="0"/>
            </a:br>
            <a:r>
              <a:rPr lang="en-IN" sz="2000" dirty="0"/>
              <a:t>Extending Story Mode with voice narration and multilingual support (Gujarati, Hindi, and international languages) would make heritage storytelling accessible to a much wider range of visitors — domestic tourists, international </a:t>
            </a:r>
            <a:r>
              <a:rPr lang="en-IN" sz="2000" dirty="0" err="1"/>
              <a:t>travelers</a:t>
            </a:r>
            <a:r>
              <a:rPr lang="en-IN" sz="2000" dirty="0"/>
              <a:t>, and visitors with limited literacy — turning the platform into an inclusive on-site guide rather than a text-only experience.</a:t>
            </a: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622917" y="30570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endParaRPr lang="en-US" sz="1600" dirty="0"/>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1744856" y="1010829"/>
            <a:ext cx="8702288" cy="574393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716" r="2716"/>
          <a:stretch/>
        </p:blipFill>
        <p:spPr>
          <a:xfrm>
            <a:off x="2118850" y="1208491"/>
            <a:ext cx="7954299" cy="5162723"/>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442167" y="486786"/>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p:txBody>
      </p:sp>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1128</Words>
  <Application>Microsoft Office PowerPoint</Application>
  <PresentationFormat>Widescreen</PresentationFormat>
  <Paragraphs>78</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Umar Khwaja</cp:lastModifiedBy>
  <cp:revision>20</cp:revision>
  <dcterms:created xsi:type="dcterms:W3CDTF">2025-07-08T05:06:56Z</dcterms:created>
  <dcterms:modified xsi:type="dcterms:W3CDTF">2026-09-13T11:37:45Z</dcterms:modified>
</cp:coreProperties>
</file>